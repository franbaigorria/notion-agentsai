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mbria"/>
              </a:defRPr>
            </a:pPr>
            <a:r>
              <a:t>Voice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CADCFC"/>
                </a:solidFill>
                <a:latin typeface="Calibri"/>
              </a:defRPr>
            </a:pPr>
            <a:r>
              <a:t>Agente de voz con IA para clínicas argentinas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C93A8"/>
                </a:solidFill>
                <a:latin typeface="Calibri"/>
              </a:defRPr>
            </a:pPr>
            <a:r>
              <a:t>Estado del proyecto  —  Abril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Qué estamos construyendo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A1F36"/>
                </a:solidFill>
                <a:latin typeface="Calibri"/>
              </a:defRPr>
            </a:pPr>
            <a:r>
              <a:t>Un agente de voz con acento argentino que atiende llamadas de clínicas 24/7: saca turnos, responde sobre coberturas y especialidades, y escala a humano cuando no sabe. Diseñado como plataforma multi-vertical.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3291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4864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Disponibilidad 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Atiende fuera de horario, fines de semana y feriados sin costo adicional.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926080"/>
            <a:ext cx="3291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54864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Acento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Voz argentina natural con ElevenLabs. El paciente siente que habla con una persona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26080"/>
            <a:ext cx="3291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54864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Multi-vertical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El mismo core sirve para clínicas, inmobiliarias, restaurantes. Se configura con YAML.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Por qué clínicas en Argentina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Cambria"/>
              </a:defRPr>
            </a:pPr>
            <a:r>
              <a:t>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C93A8"/>
                </a:solidFill>
                <a:latin typeface="Calibri"/>
              </a:defRPr>
            </a:pPr>
            <a:r>
              <a:t>turnos médicos</a:t>
            </a:r>
            <a:br/>
            <a:r>
              <a:t>por día en CABA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mbria"/>
              </a:defRPr>
            </a:pPr>
            <a:r>
              <a:t>$400-500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C93A8"/>
                </a:solidFill>
                <a:latin typeface="Calibri"/>
              </a:defRPr>
            </a:pPr>
            <a:r>
              <a:t>costo mensual de</a:t>
            </a:r>
            <a:br/>
            <a:r>
              <a:t>una recepcionista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D9488"/>
                </a:solidFill>
                <a:latin typeface="Cambria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C93A8"/>
                </a:solidFill>
                <a:latin typeface="Calibri"/>
              </a:defRPr>
            </a:pPr>
            <a:r>
              <a:t>disponibilidad del</a:t>
            </a:r>
            <a:br/>
            <a:r>
              <a:t>agente de voz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78308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  <a:latin typeface="Cambria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31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C93A8"/>
                </a:solidFill>
                <a:latin typeface="Calibri"/>
              </a:defRPr>
            </a:pPr>
            <a:r>
              <a:t>competidores</a:t>
            </a:r>
            <a:br/>
            <a:r>
              <a:t>dominantes en 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F36"/>
                </a:solidFill>
                <a:latin typeface="Calibri"/>
              </a:defRPr>
            </a:pPr>
            <a:r>
              <a:t>El agente reemplaza el 80% de las llamadas entrantes de una clínica. El ROI es inmediato: disponibilidad total a costo variable, sin sueldos fijos ni licencias. Fonema AI (México) es el competidor más cercano pero no tiene presencia local en Argentina.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Obras sociales prioritarias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C93A8"/>
                </a:solidFill>
                <a:latin typeface="Calibri"/>
              </a:defRPr>
            </a:pPr>
            <a:r>
              <a:t>OSDE  ·  Swiss Medical  ·  Galeno  ·  IOMA  ·  PAMI  ·  Medicus  ·  Jerárquicos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Stack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Orquestación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813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LiveKit Agents 1.x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813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8C93A8"/>
                </a:solidFill>
                <a:latin typeface="Calibri"/>
              </a:defRPr>
            </a:pPr>
            <a:r>
              <a:t>Maneja el loop completo de audio, VAD, y sesiones de voz en tiempo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12848"/>
            <a:ext cx="1645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3113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Silero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3113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8C93A8"/>
                </a:solidFill>
                <a:latin typeface="Calibri"/>
              </a:defRPr>
            </a:pPr>
            <a:r>
              <a:t>Detección de actividad de voz — sabe cuándo el paciente habla y cuándo hay silencio.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62656"/>
            <a:ext cx="1645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08376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98094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Deepgram Nova-2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98094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8C93A8"/>
                </a:solidFill>
                <a:latin typeface="Calibri"/>
              </a:defRPr>
            </a:pPr>
            <a:r>
              <a:t>Speech-to-text con baja latencia y buen soporte para español.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12464"/>
            <a:ext cx="1645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58184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73075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307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8C93A8"/>
                </a:solidFill>
                <a:latin typeface="Calibri"/>
              </a:defRPr>
            </a:pPr>
            <a:r>
              <a:t>Modelo de lenguaje de Anthropic para generar respuestas inteligentes.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62272"/>
            <a:ext cx="1645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07992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480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ElevenLabs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805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8C93A8"/>
                </a:solidFill>
                <a:latin typeface="Calibri"/>
              </a:defRPr>
            </a:pPr>
            <a:r>
              <a:t>Text-to-speech con voz argentina natural. Modelo eleven_multilingual_v2.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12079"/>
            <a:ext cx="1645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799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RAG (futuro)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230367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Qdrant + FastEmbed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230367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8C93A8"/>
                </a:solidFill>
                <a:latin typeface="Calibri"/>
              </a:defRPr>
            </a:pPr>
            <a:r>
              <a:t>Base de conocimiento vectorial para datos de la clínica.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Flujo de una llamada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8288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1F36"/>
                </a:solidFill>
                <a:latin typeface="Calibri"/>
              </a:defRPr>
            </a:pPr>
            <a:r>
              <a:t>Llamada</a:t>
            </a:r>
            <a:br/>
            <a:r>
              <a:t>entrante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C93A8"/>
                </a:solidFill>
                <a:latin typeface="Calibri"/>
              </a:defRPr>
            </a:pPr>
            <a:r>
              <a:t>LiveKit recibe</a:t>
            </a:r>
            <a:br/>
            <a:r>
              <a:t>la conexión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1920240"/>
            <a:ext cx="2834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8C93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154680" y="1828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688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1F36"/>
                </a:solidFill>
                <a:latin typeface="Calibri"/>
              </a:defRPr>
            </a:pPr>
            <a:r>
              <a:t>Silero</a:t>
            </a:r>
            <a:br/>
            <a:r>
              <a:t>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154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C93A8"/>
                </a:solidFill>
                <a:latin typeface="Calibri"/>
              </a:defRPr>
            </a:pPr>
            <a:r>
              <a:t>Detecta cuando</a:t>
            </a:r>
            <a:br/>
            <a:r>
              <a:t>el paciente habla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1920240"/>
            <a:ext cx="2834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8C93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18288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1F36"/>
                </a:solidFill>
                <a:latin typeface="Calibri"/>
              </a:defRPr>
            </a:pPr>
            <a:r>
              <a:t>Deepgram</a:t>
            </a:r>
            <a:br/>
            <a:r>
              <a:t>STT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54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C93A8"/>
                </a:solidFill>
                <a:latin typeface="Calibri"/>
              </a:defRPr>
            </a:pPr>
            <a:r>
              <a:t>Audio a texto</a:t>
            </a:r>
            <a:br/>
            <a:r>
              <a:t>en español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920240"/>
            <a:ext cx="2834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8C93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903720" y="1828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1F36"/>
                </a:solidFill>
                <a:latin typeface="Calibri"/>
              </a:defRPr>
            </a:pPr>
            <a:r>
              <a:t>Claude</a:t>
            </a:r>
            <a:br/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54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C93A8"/>
                </a:solidFill>
                <a:latin typeface="Calibri"/>
              </a:defRPr>
            </a:pPr>
            <a:r>
              <a:t>Genera la</a:t>
            </a:r>
            <a:br/>
            <a:r>
              <a:t>respuesta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920240"/>
            <a:ext cx="2834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8C93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18288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1F36"/>
                </a:solidFill>
                <a:latin typeface="Calibri"/>
              </a:defRPr>
            </a:pPr>
            <a:r>
              <a:t>ElevenLabs</a:t>
            </a:r>
            <a:br/>
            <a:r>
              <a:t>TTS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54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C93A8"/>
                </a:solidFill>
                <a:latin typeface="Calibri"/>
              </a:defRPr>
            </a:pPr>
            <a:r>
              <a:t>Texto a voz</a:t>
            </a:r>
            <a:br/>
            <a:r>
              <a:t>argentina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1920240"/>
            <a:ext cx="2834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8C93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60" y="1828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4688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A1F36"/>
                </a:solidFill>
                <a:latin typeface="Calibri"/>
              </a:defRPr>
            </a:pPr>
            <a:r>
              <a:t>Respuesta</a:t>
            </a:r>
            <a:br/>
            <a:r>
              <a:t>al paciente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15468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C93A8"/>
                </a:solidFill>
                <a:latin typeface="Calibri"/>
              </a:defRPr>
            </a:pPr>
            <a:r>
              <a:t>Loop hasta</a:t>
            </a:r>
            <a:br/>
            <a:r>
              <a:t>resolución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251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F36"/>
                </a:solidFill>
                <a:latin typeface="Calibri"/>
              </a:defRPr>
            </a:pPr>
            <a:r>
              <a:t>Latencia objetivo:  P50 &lt; 1.2s   |   P95 &lt; 2.0s   |   Streaming de TTS: el paciente escucha mientras se genera el resto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35608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Cimientos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35608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35608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Repo, LiveKit, ElevenLabs, Deepgram, Anthropic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490472"/>
            <a:ext cx="109728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1490472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HECHO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29968"/>
            <a:ext cx="109728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48256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Loop de voz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48256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2-3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48256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Conversación end-to-end, latencia &lt; 1.5s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2103120"/>
            <a:ext cx="10972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10312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PRÓXIMO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642616"/>
            <a:ext cx="10972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70048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660904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RAG +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660904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3-4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60904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Base de conocimiento de la clínica con Qdrant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255264"/>
            <a:ext cx="10972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82696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273552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Lógica clínica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273552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273552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Turnos, cobertura, info general, reagendar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67912"/>
            <a:ext cx="10972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895344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886200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Memoria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886200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5-6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86200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Recuerda al paciente entre llamadas (Mem0)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80560"/>
            <a:ext cx="10972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507992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498848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Handoff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498848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498848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Escalación elegante a humano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093208"/>
            <a:ext cx="10972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20640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111496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Multi-vertical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111496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7-8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111496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Vertical Adapter Pattern, inmobiliaria como prueba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705856"/>
            <a:ext cx="109728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733288"/>
            <a:ext cx="1097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Fase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724144"/>
            <a:ext cx="1828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5724144"/>
            <a:ext cx="1097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Sem 8-10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724144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F36"/>
                </a:solidFill>
                <a:latin typeface="Calibri"/>
              </a:defRPr>
            </a:pPr>
            <a:r>
              <a:t>Panel del cliente + facturación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Estado actual — Fase 0 completada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LiveKit Agents configurado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Loop de audio completo funcionando con VAD + STT + LLM + TTS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21992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762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Deepgram Nova-2 integrado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9631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STT en español con baja latencia (reemplaza Whisper del plan original)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35224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9504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8950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Claude Sonnet 4.6 como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0954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Genera respuestas en español rioplatense, cálidas y concisas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48456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0273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0273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ElevenLabs TTS funcionando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2277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Voz argentina natural testeada y validada con audio de prueba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61688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1596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1596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Agente 'Nanci' operativo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360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Personalidad definida, prompt de comportamiento, saludo inicial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7492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29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1F36"/>
                </a:solidFill>
                <a:latin typeface="Calibri"/>
              </a:defRPr>
            </a:pPr>
            <a:r>
              <a:t>.gitignore + .env.example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492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Proyecto listo para colaboración segura en Git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46304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463040"/>
            <a:ext cx="54864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6002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Pendiente (no bloqueante)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→  Qdrant Cloud (se activa en Fase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5603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→  Firecrawl (se activa en Fase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017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C93A8"/>
                </a:solidFill>
                <a:latin typeface="Calibri"/>
              </a:defRPr>
            </a:pPr>
            <a:r>
              <a:t>→  Tests unitarios (se agregan en Fase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Métricas de éxito del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D9488"/>
                </a:solidFill>
                <a:latin typeface="Cambria"/>
              </a:defRPr>
            </a:pPr>
            <a:r>
              <a:t>&lt; 1.2s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373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Latencia 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8C93A8"/>
                </a:solidFill>
                <a:latin typeface="Calibri"/>
              </a:defRPr>
            </a:pPr>
            <a:r>
              <a:t>Tiempo entre que el paciente</a:t>
            </a:r>
            <a:br/>
            <a:r>
              <a:t>termina de hablar y el agente responde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554480"/>
            <a:ext cx="3383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554480"/>
            <a:ext cx="338328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7373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E2761"/>
                </a:solidFill>
                <a:latin typeface="Cambria"/>
              </a:defRPr>
            </a:pPr>
            <a:r>
              <a:t>&lt; 2.0s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39" y="17373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Latencia P95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468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8C93A8"/>
                </a:solidFill>
                <a:latin typeface="Calibri"/>
              </a:defRPr>
            </a:pPr>
            <a:r>
              <a:t>Incluso en el peor caso, la respuesta</a:t>
            </a:r>
            <a:br/>
            <a:r>
              <a:t>llegue antes de 2 segundos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9" y="1554480"/>
            <a:ext cx="3383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9" y="1554480"/>
            <a:ext cx="33832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7373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A34A"/>
                </a:solidFill>
                <a:latin typeface="Cambria"/>
              </a:defRPr>
            </a:pPr>
            <a:r>
              <a:t>&gt;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79" y="17373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Resolución</a:t>
            </a:r>
            <a:br/>
            <a:r>
              <a:t>sin humano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468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8C93A8"/>
                </a:solidFill>
                <a:latin typeface="Calibri"/>
              </a:defRPr>
            </a:pPr>
            <a:r>
              <a:t>El agente resuelve 8 de cada 10</a:t>
            </a:r>
            <a:br/>
            <a:r>
              <a:t>llamadas sin escalar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3383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3383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233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F4444"/>
                </a:solidFill>
                <a:latin typeface="Cambria"/>
              </a:defRPr>
            </a:pPr>
            <a:r>
              <a:t>&lt; 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0233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Tasa de</a:t>
            </a:r>
            <a:br/>
            <a:r>
              <a:t>alucinación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8C93A8"/>
                </a:solidFill>
                <a:latin typeface="Calibri"/>
              </a:defRPr>
            </a:pPr>
            <a:r>
              <a:t>Respuestas incorrectas o inventadas</a:t>
            </a:r>
            <a:br/>
            <a:r>
              <a:t>mínimas y controladas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3840480"/>
            <a:ext cx="3383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384048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0233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Cambria"/>
              </a:defRPr>
            </a:pPr>
            <a:r>
              <a:t>&gt; 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39" y="40233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NPS del</a:t>
            </a:r>
            <a:br/>
            <a:r>
              <a:t>paciente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4754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8C93A8"/>
                </a:solidFill>
                <a:latin typeface="Calibri"/>
              </a:defRPr>
            </a:pPr>
            <a:r>
              <a:t>Satisfacción del paciente que</a:t>
            </a:r>
            <a:br/>
            <a:r>
              <a:t>interactuó con el agente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599" y="3840480"/>
            <a:ext cx="3383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599" y="3840480"/>
            <a:ext cx="3383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40233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D9488"/>
                </a:solidFill>
                <a:latin typeface="Cambria"/>
              </a:defRPr>
            </a:pPr>
            <a:r>
              <a:t>&lt; $0.15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79" y="40233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1F36"/>
                </a:solidFill>
                <a:latin typeface="Calibri"/>
              </a:defRPr>
            </a:pPr>
            <a:r>
              <a:t>Costo por</a:t>
            </a:r>
            <a:br/>
            <a:r>
              <a:t>minuto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7548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8C93A8"/>
                </a:solidFill>
                <a:latin typeface="Calibri"/>
              </a:defRPr>
            </a:pPr>
            <a:r>
              <a:t>Para vender a USD 0.25-0.30</a:t>
            </a:r>
            <a:br/>
            <a:r>
              <a:t>con margen saludable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ADCFC"/>
                </a:solidFill>
                <a:latin typeface="Calibri"/>
              </a:defRPr>
            </a:pPr>
            <a:r>
              <a:t>Voice Agent  |  Documento interno  | 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mbria"/>
              </a:defRPr>
            </a:pPr>
            <a:r>
              <a:t>Próximos pasos — Fase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Calibri"/>
              </a:defRPr>
            </a:pPr>
            <a:r>
              <a:t>Conversación de 5+ turnos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C93A8"/>
                </a:solidFill>
                <a:latin typeface="Calibri"/>
              </a:defRPr>
            </a:pPr>
            <a:r>
              <a:t>Mantener un diálogo coherente y natural de ida y vuelta, con manejo de silencios e interrupciones.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Calibri"/>
              </a:defRPr>
            </a:pPr>
            <a:r>
              <a:t>Optimización de latencia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C93A8"/>
                </a:solidFill>
                <a:latin typeface="Calibri"/>
              </a:defRPr>
            </a:pPr>
            <a:r>
              <a:t>Medir y reducir latencia real a &lt; 1.5s. Streaming de TTS es crítico.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00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Calibri"/>
              </a:defRPr>
            </a:pPr>
            <a:r>
              <a:t>Logging de conversaciones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661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C93A8"/>
                </a:solidFill>
                <a:latin typeface="Calibri"/>
              </a:defRPr>
            </a:pPr>
            <a:r>
              <a:t>Guardar cada sesión con transcripción, duración y métricas de costo.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79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7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69079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Calibri"/>
              </a:defRPr>
            </a:pPr>
            <a:r>
              <a:t>Chat mode para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34839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C93A8"/>
                </a:solidFill>
                <a:latin typeface="Calibri"/>
              </a:defRPr>
            </a:pPr>
            <a:r>
              <a:t>Script de texto para iterar sobre prompts sin quemar audio API calls.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37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1F36"/>
                </a:solidFill>
                <a:latin typeface="Calibri"/>
              </a:defRPr>
            </a:pPr>
            <a:r>
              <a:t>Prompt engineering avanzado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035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C93A8"/>
                </a:solidFill>
                <a:latin typeface="Calibri"/>
              </a:defRPr>
            </a:pPr>
            <a:r>
              <a:t>Refinar personalidad de Nanci: manejo de turnos, tono, edge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mbria"/>
              </a:defRPr>
            </a:pPr>
            <a:r>
              <a:t>Fase 0 completada. El agente habla.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Siguiente: lograr una conversación real de 5 turnos con latencia &lt; 1.5s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